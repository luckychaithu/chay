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19"/>
  </p:notesMasterIdLst>
  <p:handoutMasterIdLst>
    <p:handoutMasterId r:id="rId20"/>
  </p:handoutMasterIdLst>
  <p:sldIdLst>
    <p:sldId id="258" r:id="rId3"/>
    <p:sldId id="283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16">
          <p15:clr>
            <a:srgbClr val="A4A3A4"/>
          </p15:clr>
        </p15:guide>
        <p15:guide id="2" orient="horz" pos="3264">
          <p15:clr>
            <a:srgbClr val="A4A3A4"/>
          </p15:clr>
        </p15:guide>
        <p15:guide id="3" pos="6912">
          <p15:clr>
            <a:srgbClr val="A4A3A4"/>
          </p15:clr>
        </p15:guide>
        <p15:guide id="4" orient="horz">
          <p15:clr>
            <a:srgbClr val="A4A3A4"/>
          </p15:clr>
        </p15:guide>
        <p15:guide id="5" orient="horz" pos="4008">
          <p15:clr>
            <a:srgbClr val="A4A3A4"/>
          </p15:clr>
        </p15:guide>
        <p15:guide id="6" orient="horz" pos="2352">
          <p15:clr>
            <a:srgbClr val="A4A3A4"/>
          </p15:clr>
        </p15:guide>
        <p15:guide id="7" pos="6696">
          <p15:clr>
            <a:srgbClr val="A4A3A4"/>
          </p15:clr>
        </p15:guide>
        <p15:guide id="8" pos="2136">
          <p15:clr>
            <a:srgbClr val="A4A3A4"/>
          </p15:clr>
        </p15:guide>
        <p15:guide id="9" pos="2760">
          <p15:clr>
            <a:srgbClr val="A4A3A4"/>
          </p15:clr>
        </p15:guide>
        <p15:guide id="10" pos="3288">
          <p15:clr>
            <a:srgbClr val="A4A3A4"/>
          </p15:clr>
        </p15:guide>
        <p15:guide id="11" pos="4032">
          <p15:clr>
            <a:srgbClr val="A4A3A4"/>
          </p15:clr>
        </p15:guide>
        <p15:guide id="12" pos="4392">
          <p15:clr>
            <a:srgbClr val="A4A3A4"/>
          </p15:clr>
        </p15:guide>
        <p15:guide id="13" pos="4944">
          <p15:clr>
            <a:srgbClr val="A4A3A4"/>
          </p15:clr>
        </p15:guide>
        <p15:guide id="14" pos="5544">
          <p15:clr>
            <a:srgbClr val="A4A3A4"/>
          </p15:clr>
        </p15:guide>
        <p15:guide id="15" pos="6072">
          <p15:clr>
            <a:srgbClr val="A4A3A4"/>
          </p15:clr>
        </p15:guide>
        <p15:guide id="16" orient="horz" pos="2448">
          <p15:clr>
            <a:srgbClr val="A4A3A4"/>
          </p15:clr>
        </p15:guide>
        <p15:guide id="17" pos="5256">
          <p15:clr>
            <a:srgbClr val="A4A3A4"/>
          </p15:clr>
        </p15:guide>
        <p15:guide id="18" pos="726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202C8F"/>
    <a:srgbClr val="FDFBF6"/>
    <a:srgbClr val="AAC4E9"/>
    <a:srgbClr val="F5CDCE"/>
    <a:srgbClr val="DF8C8C"/>
    <a:srgbClr val="D4D593"/>
    <a:srgbClr val="E6F0FE"/>
    <a:srgbClr val="CDBE8A"/>
    <a:srgbClr val="F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456C33-C264-4900-A636-BDAC79838F0D}" type="doc">
      <dgm:prSet loTypeId="urn:microsoft.com/office/officeart/2005/8/layout/rings+Icon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AD939B-39E1-42DA-9443-C8C224328147}">
      <dgm:prSet/>
      <dgm:spPr/>
      <dgm:t>
        <a:bodyPr/>
        <a:lstStyle/>
        <a:p>
          <a:r>
            <a:rPr lang="en-US" dirty="0"/>
            <a:t>Impoundment (Dam-based)</a:t>
          </a:r>
        </a:p>
      </dgm:t>
    </dgm:pt>
    <dgm:pt modelId="{F7A80F86-8830-4A6D-9606-095E3995C422}" type="parTrans" cxnId="{EE9658DD-4ECE-4A7A-B2E0-413B40558F07}">
      <dgm:prSet/>
      <dgm:spPr/>
      <dgm:t>
        <a:bodyPr/>
        <a:lstStyle/>
        <a:p>
          <a:endParaRPr lang="en-US"/>
        </a:p>
      </dgm:t>
    </dgm:pt>
    <dgm:pt modelId="{35532A42-61CF-46FE-85F6-F6F6D7260C06}" type="sibTrans" cxnId="{EE9658DD-4ECE-4A7A-B2E0-413B40558F07}">
      <dgm:prSet/>
      <dgm:spPr/>
      <dgm:t>
        <a:bodyPr/>
        <a:lstStyle/>
        <a:p>
          <a:endParaRPr lang="en-US"/>
        </a:p>
      </dgm:t>
    </dgm:pt>
    <dgm:pt modelId="{8D954FCE-3FE7-48E9-9697-F51287516B57}">
      <dgm:prSet/>
      <dgm:spPr/>
      <dgm:t>
        <a:bodyPr/>
        <a:lstStyle/>
        <a:p>
          <a:r>
            <a:rPr lang="en-US" dirty="0"/>
            <a:t>Run-of-River</a:t>
          </a:r>
        </a:p>
      </dgm:t>
    </dgm:pt>
    <dgm:pt modelId="{F8775056-8863-4D4A-A97B-8D177820E77D}" type="parTrans" cxnId="{4FB6E3CE-2EE3-495C-82EE-CF494C09743E}">
      <dgm:prSet/>
      <dgm:spPr/>
      <dgm:t>
        <a:bodyPr/>
        <a:lstStyle/>
        <a:p>
          <a:endParaRPr lang="en-US"/>
        </a:p>
      </dgm:t>
    </dgm:pt>
    <dgm:pt modelId="{0D91ADEE-929C-42AC-BE91-B2798DE9CEBE}" type="sibTrans" cxnId="{4FB6E3CE-2EE3-495C-82EE-CF494C09743E}">
      <dgm:prSet/>
      <dgm:spPr/>
      <dgm:t>
        <a:bodyPr/>
        <a:lstStyle/>
        <a:p>
          <a:endParaRPr lang="en-US"/>
        </a:p>
      </dgm:t>
    </dgm:pt>
    <dgm:pt modelId="{B5FF0AF6-3318-4E9B-98D3-EAD1FB0A8C6E}">
      <dgm:prSet/>
      <dgm:spPr/>
      <dgm:t>
        <a:bodyPr/>
        <a:lstStyle/>
        <a:p>
          <a:r>
            <a:rPr lang="en-US" dirty="0"/>
            <a:t>Pumped Storage</a:t>
          </a:r>
        </a:p>
      </dgm:t>
    </dgm:pt>
    <dgm:pt modelId="{3B2EDF8D-3763-4B92-9BCA-F4846E276233}" type="parTrans" cxnId="{1BC6B031-72DC-4CDA-B7B0-EB680AF35BE0}">
      <dgm:prSet/>
      <dgm:spPr/>
      <dgm:t>
        <a:bodyPr/>
        <a:lstStyle/>
        <a:p>
          <a:endParaRPr lang="en-US"/>
        </a:p>
      </dgm:t>
    </dgm:pt>
    <dgm:pt modelId="{CD5FD487-988C-4248-9114-A33A24A6AC5D}" type="sibTrans" cxnId="{1BC6B031-72DC-4CDA-B7B0-EB680AF35BE0}">
      <dgm:prSet/>
      <dgm:spPr/>
      <dgm:t>
        <a:bodyPr/>
        <a:lstStyle/>
        <a:p>
          <a:endParaRPr lang="en-US"/>
        </a:p>
      </dgm:t>
    </dgm:pt>
    <dgm:pt modelId="{A6BD44D3-FBEC-4E8F-94A0-97AB02CC09FC}" type="pres">
      <dgm:prSet presAssocID="{D3456C33-C264-4900-A636-BDAC79838F0D}" presName="Name0" presStyleCnt="0">
        <dgm:presLayoutVars>
          <dgm:chMax val="7"/>
          <dgm:dir/>
          <dgm:resizeHandles val="exact"/>
        </dgm:presLayoutVars>
      </dgm:prSet>
      <dgm:spPr/>
    </dgm:pt>
    <dgm:pt modelId="{379F7682-ECA1-4727-AEFD-32E71A8ECF88}" type="pres">
      <dgm:prSet presAssocID="{D3456C33-C264-4900-A636-BDAC79838F0D}" presName="ellipse1" presStyleLbl="vennNode1" presStyleIdx="0" presStyleCnt="3">
        <dgm:presLayoutVars>
          <dgm:bulletEnabled val="1"/>
        </dgm:presLayoutVars>
      </dgm:prSet>
      <dgm:spPr/>
    </dgm:pt>
    <dgm:pt modelId="{B9E464C7-45D2-406F-863C-3290F743B3ED}" type="pres">
      <dgm:prSet presAssocID="{D3456C33-C264-4900-A636-BDAC79838F0D}" presName="ellipse2" presStyleLbl="vennNode1" presStyleIdx="1" presStyleCnt="3">
        <dgm:presLayoutVars>
          <dgm:bulletEnabled val="1"/>
        </dgm:presLayoutVars>
      </dgm:prSet>
      <dgm:spPr/>
    </dgm:pt>
    <dgm:pt modelId="{36EB4EF2-CAB2-4116-B6E2-06381FC598AC}" type="pres">
      <dgm:prSet presAssocID="{D3456C33-C264-4900-A636-BDAC79838F0D}" presName="ellipse3" presStyleLbl="vennNode1" presStyleIdx="2" presStyleCnt="3">
        <dgm:presLayoutVars>
          <dgm:bulletEnabled val="1"/>
        </dgm:presLayoutVars>
      </dgm:prSet>
      <dgm:spPr/>
    </dgm:pt>
  </dgm:ptLst>
  <dgm:cxnLst>
    <dgm:cxn modelId="{A43BE323-90E7-472B-AB47-4C73AA42B483}" type="presOf" srcId="{8D954FCE-3FE7-48E9-9697-F51287516B57}" destId="{B9E464C7-45D2-406F-863C-3290F743B3ED}" srcOrd="0" destOrd="0" presId="urn:microsoft.com/office/officeart/2005/8/layout/rings+Icon"/>
    <dgm:cxn modelId="{1BC6B031-72DC-4CDA-B7B0-EB680AF35BE0}" srcId="{D3456C33-C264-4900-A636-BDAC79838F0D}" destId="{B5FF0AF6-3318-4E9B-98D3-EAD1FB0A8C6E}" srcOrd="2" destOrd="0" parTransId="{3B2EDF8D-3763-4B92-9BCA-F4846E276233}" sibTransId="{CD5FD487-988C-4248-9114-A33A24A6AC5D}"/>
    <dgm:cxn modelId="{F72C694D-B322-42FC-81CE-77AE67FA7716}" type="presOf" srcId="{D3456C33-C264-4900-A636-BDAC79838F0D}" destId="{A6BD44D3-FBEC-4E8F-94A0-97AB02CC09FC}" srcOrd="0" destOrd="0" presId="urn:microsoft.com/office/officeart/2005/8/layout/rings+Icon"/>
    <dgm:cxn modelId="{AD081474-8230-4079-8E2A-292EC18C9CA8}" type="presOf" srcId="{01AD939B-39E1-42DA-9443-C8C224328147}" destId="{379F7682-ECA1-4727-AEFD-32E71A8ECF88}" srcOrd="0" destOrd="0" presId="urn:microsoft.com/office/officeart/2005/8/layout/rings+Icon"/>
    <dgm:cxn modelId="{D65BC5CB-E94B-44CB-A1BE-B91FF6419535}" type="presOf" srcId="{B5FF0AF6-3318-4E9B-98D3-EAD1FB0A8C6E}" destId="{36EB4EF2-CAB2-4116-B6E2-06381FC598AC}" srcOrd="0" destOrd="0" presId="urn:microsoft.com/office/officeart/2005/8/layout/rings+Icon"/>
    <dgm:cxn modelId="{4FB6E3CE-2EE3-495C-82EE-CF494C09743E}" srcId="{D3456C33-C264-4900-A636-BDAC79838F0D}" destId="{8D954FCE-3FE7-48E9-9697-F51287516B57}" srcOrd="1" destOrd="0" parTransId="{F8775056-8863-4D4A-A97B-8D177820E77D}" sibTransId="{0D91ADEE-929C-42AC-BE91-B2798DE9CEBE}"/>
    <dgm:cxn modelId="{EE9658DD-4ECE-4A7A-B2E0-413B40558F07}" srcId="{D3456C33-C264-4900-A636-BDAC79838F0D}" destId="{01AD939B-39E1-42DA-9443-C8C224328147}" srcOrd="0" destOrd="0" parTransId="{F7A80F86-8830-4A6D-9606-095E3995C422}" sibTransId="{35532A42-61CF-46FE-85F6-F6F6D7260C06}"/>
    <dgm:cxn modelId="{B4E8AF3C-88F2-424E-9A41-1A51AC3E7755}" type="presParOf" srcId="{A6BD44D3-FBEC-4E8F-94A0-97AB02CC09FC}" destId="{379F7682-ECA1-4727-AEFD-32E71A8ECF88}" srcOrd="0" destOrd="0" presId="urn:microsoft.com/office/officeart/2005/8/layout/rings+Icon"/>
    <dgm:cxn modelId="{72433990-9A03-40A5-BF5B-8D41A62D1850}" type="presParOf" srcId="{A6BD44D3-FBEC-4E8F-94A0-97AB02CC09FC}" destId="{B9E464C7-45D2-406F-863C-3290F743B3ED}" srcOrd="1" destOrd="0" presId="urn:microsoft.com/office/officeart/2005/8/layout/rings+Icon"/>
    <dgm:cxn modelId="{28B55119-E0AA-471A-B918-A68997267FBE}" type="presParOf" srcId="{A6BD44D3-FBEC-4E8F-94A0-97AB02CC09FC}" destId="{36EB4EF2-CAB2-4116-B6E2-06381FC598AC}" srcOrd="2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CC88E6-5FA4-4EEA-ABA5-91FC8C44E35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281B5A3-8391-4649-A4C6-88ED871D7FE6}">
      <dgm:prSet/>
      <dgm:spPr/>
      <dgm:t>
        <a:bodyPr/>
        <a:lstStyle/>
        <a:p>
          <a:r>
            <a:rPr lang="en-US"/>
            <a:t>Hydro power is reliable and renewable.</a:t>
          </a:r>
        </a:p>
      </dgm:t>
    </dgm:pt>
    <dgm:pt modelId="{8BCCFD59-6901-4BAB-B3BF-67E0CBF5C9D8}" type="parTrans" cxnId="{F6E467F5-845E-4A14-AC86-9F6D30579753}">
      <dgm:prSet/>
      <dgm:spPr/>
      <dgm:t>
        <a:bodyPr/>
        <a:lstStyle/>
        <a:p>
          <a:endParaRPr lang="en-US"/>
        </a:p>
      </dgm:t>
    </dgm:pt>
    <dgm:pt modelId="{4626C17E-D41C-499F-9A8F-B8D8EC2DB6F3}" type="sibTrans" cxnId="{F6E467F5-845E-4A14-AC86-9F6D30579753}">
      <dgm:prSet/>
      <dgm:spPr/>
      <dgm:t>
        <a:bodyPr/>
        <a:lstStyle/>
        <a:p>
          <a:endParaRPr lang="en-US"/>
        </a:p>
      </dgm:t>
    </dgm:pt>
    <dgm:pt modelId="{6AEAD1A2-8DCA-4661-ADC9-9D5219DFFFB0}">
      <dgm:prSet/>
      <dgm:spPr/>
      <dgm:t>
        <a:bodyPr/>
        <a:lstStyle/>
        <a:p>
          <a:r>
            <a:rPr lang="en-US"/>
            <a:t>Innovation can make it more sustainable.</a:t>
          </a:r>
        </a:p>
      </dgm:t>
    </dgm:pt>
    <dgm:pt modelId="{DF5A1579-0247-4137-95E3-4C49DFDB3AA1}" type="parTrans" cxnId="{C4526AE7-7C21-4E7B-B739-9A07D3275991}">
      <dgm:prSet/>
      <dgm:spPr/>
      <dgm:t>
        <a:bodyPr/>
        <a:lstStyle/>
        <a:p>
          <a:endParaRPr lang="en-US"/>
        </a:p>
      </dgm:t>
    </dgm:pt>
    <dgm:pt modelId="{A6E9A013-97BB-4622-9AAD-96AA41123C55}" type="sibTrans" cxnId="{C4526AE7-7C21-4E7B-B739-9A07D3275991}">
      <dgm:prSet/>
      <dgm:spPr/>
      <dgm:t>
        <a:bodyPr/>
        <a:lstStyle/>
        <a:p>
          <a:endParaRPr lang="en-US"/>
        </a:p>
      </dgm:t>
    </dgm:pt>
    <dgm:pt modelId="{FF655DBD-BAF1-4793-BBA2-66557495E3FE}">
      <dgm:prSet/>
      <dgm:spPr/>
      <dgm:t>
        <a:bodyPr/>
        <a:lstStyle/>
        <a:p>
          <a:r>
            <a:rPr lang="en-US"/>
            <a:t>Key to global clean energy goals.</a:t>
          </a:r>
        </a:p>
      </dgm:t>
    </dgm:pt>
    <dgm:pt modelId="{A7910A24-C12D-4DC0-9338-C1533FEB6F2E}" type="parTrans" cxnId="{21DE58F9-095E-46FF-A55F-95DFB9A48261}">
      <dgm:prSet/>
      <dgm:spPr/>
      <dgm:t>
        <a:bodyPr/>
        <a:lstStyle/>
        <a:p>
          <a:endParaRPr lang="en-US"/>
        </a:p>
      </dgm:t>
    </dgm:pt>
    <dgm:pt modelId="{3FBB2E75-BF11-4BBB-864A-7859F792542B}" type="sibTrans" cxnId="{21DE58F9-095E-46FF-A55F-95DFB9A48261}">
      <dgm:prSet/>
      <dgm:spPr/>
      <dgm:t>
        <a:bodyPr/>
        <a:lstStyle/>
        <a:p>
          <a:endParaRPr lang="en-US"/>
        </a:p>
      </dgm:t>
    </dgm:pt>
    <dgm:pt modelId="{926F1097-C1DD-4326-945E-524CA006BE53}" type="pres">
      <dgm:prSet presAssocID="{61CC88E6-5FA4-4EEA-ABA5-91FC8C44E35B}" presName="CompostProcess" presStyleCnt="0">
        <dgm:presLayoutVars>
          <dgm:dir/>
          <dgm:resizeHandles val="exact"/>
        </dgm:presLayoutVars>
      </dgm:prSet>
      <dgm:spPr/>
    </dgm:pt>
    <dgm:pt modelId="{485725A6-FAC5-4185-AAFA-72C3125F29AE}" type="pres">
      <dgm:prSet presAssocID="{61CC88E6-5FA4-4EEA-ABA5-91FC8C44E35B}" presName="arrow" presStyleLbl="bgShp" presStyleIdx="0" presStyleCnt="1"/>
      <dgm:spPr/>
    </dgm:pt>
    <dgm:pt modelId="{920B27DA-24A8-4F00-ADB3-1ECED4F827EB}" type="pres">
      <dgm:prSet presAssocID="{61CC88E6-5FA4-4EEA-ABA5-91FC8C44E35B}" presName="linearProcess" presStyleCnt="0"/>
      <dgm:spPr/>
    </dgm:pt>
    <dgm:pt modelId="{0CAA3668-B211-4C26-9D53-0AD507F391B6}" type="pres">
      <dgm:prSet presAssocID="{0281B5A3-8391-4649-A4C6-88ED871D7FE6}" presName="textNode" presStyleLbl="node1" presStyleIdx="0" presStyleCnt="3">
        <dgm:presLayoutVars>
          <dgm:bulletEnabled val="1"/>
        </dgm:presLayoutVars>
      </dgm:prSet>
      <dgm:spPr/>
    </dgm:pt>
    <dgm:pt modelId="{FD7779F9-E4A7-48D2-8D84-55DF2D09DE43}" type="pres">
      <dgm:prSet presAssocID="{4626C17E-D41C-499F-9A8F-B8D8EC2DB6F3}" presName="sibTrans" presStyleCnt="0"/>
      <dgm:spPr/>
    </dgm:pt>
    <dgm:pt modelId="{23E8BBB2-57AB-4022-B366-00DA96A2BA9E}" type="pres">
      <dgm:prSet presAssocID="{6AEAD1A2-8DCA-4661-ADC9-9D5219DFFFB0}" presName="textNode" presStyleLbl="node1" presStyleIdx="1" presStyleCnt="3">
        <dgm:presLayoutVars>
          <dgm:bulletEnabled val="1"/>
        </dgm:presLayoutVars>
      </dgm:prSet>
      <dgm:spPr/>
    </dgm:pt>
    <dgm:pt modelId="{7AB70D72-919F-4D22-90CA-F1ADD8959C12}" type="pres">
      <dgm:prSet presAssocID="{A6E9A013-97BB-4622-9AAD-96AA41123C55}" presName="sibTrans" presStyleCnt="0"/>
      <dgm:spPr/>
    </dgm:pt>
    <dgm:pt modelId="{8C1A51AD-022E-45C7-A086-08C8D32EFCC1}" type="pres">
      <dgm:prSet presAssocID="{FF655DBD-BAF1-4793-BBA2-66557495E3FE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F3C33B11-8F89-4888-B6FE-B935AFB1C571}" type="presOf" srcId="{61CC88E6-5FA4-4EEA-ABA5-91FC8C44E35B}" destId="{926F1097-C1DD-4326-945E-524CA006BE53}" srcOrd="0" destOrd="0" presId="urn:microsoft.com/office/officeart/2005/8/layout/hProcess9"/>
    <dgm:cxn modelId="{409ACFBC-841D-4BB5-9915-6D668F37CE22}" type="presOf" srcId="{6AEAD1A2-8DCA-4661-ADC9-9D5219DFFFB0}" destId="{23E8BBB2-57AB-4022-B366-00DA96A2BA9E}" srcOrd="0" destOrd="0" presId="urn:microsoft.com/office/officeart/2005/8/layout/hProcess9"/>
    <dgm:cxn modelId="{91B785D9-B291-4B0E-BB71-1C6D71F2644C}" type="presOf" srcId="{0281B5A3-8391-4649-A4C6-88ED871D7FE6}" destId="{0CAA3668-B211-4C26-9D53-0AD507F391B6}" srcOrd="0" destOrd="0" presId="urn:microsoft.com/office/officeart/2005/8/layout/hProcess9"/>
    <dgm:cxn modelId="{C4526AE7-7C21-4E7B-B739-9A07D3275991}" srcId="{61CC88E6-5FA4-4EEA-ABA5-91FC8C44E35B}" destId="{6AEAD1A2-8DCA-4661-ADC9-9D5219DFFFB0}" srcOrd="1" destOrd="0" parTransId="{DF5A1579-0247-4137-95E3-4C49DFDB3AA1}" sibTransId="{A6E9A013-97BB-4622-9AAD-96AA41123C55}"/>
    <dgm:cxn modelId="{F6E467F5-845E-4A14-AC86-9F6D30579753}" srcId="{61CC88E6-5FA4-4EEA-ABA5-91FC8C44E35B}" destId="{0281B5A3-8391-4649-A4C6-88ED871D7FE6}" srcOrd="0" destOrd="0" parTransId="{8BCCFD59-6901-4BAB-B3BF-67E0CBF5C9D8}" sibTransId="{4626C17E-D41C-499F-9A8F-B8D8EC2DB6F3}"/>
    <dgm:cxn modelId="{21DE58F9-095E-46FF-A55F-95DFB9A48261}" srcId="{61CC88E6-5FA4-4EEA-ABA5-91FC8C44E35B}" destId="{FF655DBD-BAF1-4793-BBA2-66557495E3FE}" srcOrd="2" destOrd="0" parTransId="{A7910A24-C12D-4DC0-9338-C1533FEB6F2E}" sibTransId="{3FBB2E75-BF11-4BBB-864A-7859F792542B}"/>
    <dgm:cxn modelId="{9C8493FC-328F-4E6E-8B07-6AB759468E0C}" type="presOf" srcId="{FF655DBD-BAF1-4793-BBA2-66557495E3FE}" destId="{8C1A51AD-022E-45C7-A086-08C8D32EFCC1}" srcOrd="0" destOrd="0" presId="urn:microsoft.com/office/officeart/2005/8/layout/hProcess9"/>
    <dgm:cxn modelId="{1706F884-D2CD-4DFC-8746-4BEF8BA5297E}" type="presParOf" srcId="{926F1097-C1DD-4326-945E-524CA006BE53}" destId="{485725A6-FAC5-4185-AAFA-72C3125F29AE}" srcOrd="0" destOrd="0" presId="urn:microsoft.com/office/officeart/2005/8/layout/hProcess9"/>
    <dgm:cxn modelId="{89F4D5A2-9A04-4EC7-9F3F-F2452FE57F58}" type="presParOf" srcId="{926F1097-C1DD-4326-945E-524CA006BE53}" destId="{920B27DA-24A8-4F00-ADB3-1ECED4F827EB}" srcOrd="1" destOrd="0" presId="urn:microsoft.com/office/officeart/2005/8/layout/hProcess9"/>
    <dgm:cxn modelId="{2744770D-59E7-41D4-AF9D-81076576FBB1}" type="presParOf" srcId="{920B27DA-24A8-4F00-ADB3-1ECED4F827EB}" destId="{0CAA3668-B211-4C26-9D53-0AD507F391B6}" srcOrd="0" destOrd="0" presId="urn:microsoft.com/office/officeart/2005/8/layout/hProcess9"/>
    <dgm:cxn modelId="{38C9D25A-7833-42A7-842B-5203D7CB66E1}" type="presParOf" srcId="{920B27DA-24A8-4F00-ADB3-1ECED4F827EB}" destId="{FD7779F9-E4A7-48D2-8D84-55DF2D09DE43}" srcOrd="1" destOrd="0" presId="urn:microsoft.com/office/officeart/2005/8/layout/hProcess9"/>
    <dgm:cxn modelId="{37E82D2E-F3C3-4656-B83E-A36F4A7C4918}" type="presParOf" srcId="{920B27DA-24A8-4F00-ADB3-1ECED4F827EB}" destId="{23E8BBB2-57AB-4022-B366-00DA96A2BA9E}" srcOrd="2" destOrd="0" presId="urn:microsoft.com/office/officeart/2005/8/layout/hProcess9"/>
    <dgm:cxn modelId="{8C331729-0F63-485E-A862-9589165632B8}" type="presParOf" srcId="{920B27DA-24A8-4F00-ADB3-1ECED4F827EB}" destId="{7AB70D72-919F-4D22-90CA-F1ADD8959C12}" srcOrd="3" destOrd="0" presId="urn:microsoft.com/office/officeart/2005/8/layout/hProcess9"/>
    <dgm:cxn modelId="{60375448-9B5B-4A06-88C1-90BE903AB25B}" type="presParOf" srcId="{920B27DA-24A8-4F00-ADB3-1ECED4F827EB}" destId="{8C1A51AD-022E-45C7-A086-08C8D32EFCC1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9F7682-ECA1-4727-AEFD-32E71A8ECF88}">
      <dsp:nvSpPr>
        <dsp:cNvPr id="0" name=""/>
        <dsp:cNvSpPr/>
      </dsp:nvSpPr>
      <dsp:spPr>
        <a:xfrm>
          <a:off x="1095500" y="0"/>
          <a:ext cx="2239784" cy="223975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Impoundment (Dam-based)</a:t>
          </a:r>
        </a:p>
      </dsp:txBody>
      <dsp:txXfrm>
        <a:off x="1423509" y="328004"/>
        <a:ext cx="1583766" cy="1583744"/>
      </dsp:txXfrm>
    </dsp:sp>
    <dsp:sp modelId="{B9E464C7-45D2-406F-863C-3290F743B3ED}">
      <dsp:nvSpPr>
        <dsp:cNvPr id="0" name=""/>
        <dsp:cNvSpPr/>
      </dsp:nvSpPr>
      <dsp:spPr>
        <a:xfrm>
          <a:off x="2248337" y="1493790"/>
          <a:ext cx="2239784" cy="223975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Run-of-River</a:t>
          </a:r>
        </a:p>
      </dsp:txBody>
      <dsp:txXfrm>
        <a:off x="2576346" y="1821794"/>
        <a:ext cx="1583766" cy="1583744"/>
      </dsp:txXfrm>
    </dsp:sp>
    <dsp:sp modelId="{36EB4EF2-CAB2-4116-B6E2-06381FC598AC}">
      <dsp:nvSpPr>
        <dsp:cNvPr id="0" name=""/>
        <dsp:cNvSpPr/>
      </dsp:nvSpPr>
      <dsp:spPr>
        <a:xfrm>
          <a:off x="3399811" y="0"/>
          <a:ext cx="2239784" cy="223975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Pumped Storage</a:t>
          </a:r>
        </a:p>
      </dsp:txBody>
      <dsp:txXfrm>
        <a:off x="3727820" y="328004"/>
        <a:ext cx="1583766" cy="15837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5725A6-FAC5-4185-AAFA-72C3125F29AE}">
      <dsp:nvSpPr>
        <dsp:cNvPr id="0" name=""/>
        <dsp:cNvSpPr/>
      </dsp:nvSpPr>
      <dsp:spPr>
        <a:xfrm>
          <a:off x="597409" y="0"/>
          <a:ext cx="6770641" cy="349769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AA3668-B211-4C26-9D53-0AD507F391B6}">
      <dsp:nvSpPr>
        <dsp:cNvPr id="0" name=""/>
        <dsp:cNvSpPr/>
      </dsp:nvSpPr>
      <dsp:spPr>
        <a:xfrm>
          <a:off x="269923" y="1049309"/>
          <a:ext cx="2389638" cy="13990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Hydro power is reliable and renewable.</a:t>
          </a:r>
        </a:p>
      </dsp:txBody>
      <dsp:txXfrm>
        <a:off x="338220" y="1117606"/>
        <a:ext cx="2253044" cy="1262485"/>
      </dsp:txXfrm>
    </dsp:sp>
    <dsp:sp modelId="{23E8BBB2-57AB-4022-B366-00DA96A2BA9E}">
      <dsp:nvSpPr>
        <dsp:cNvPr id="0" name=""/>
        <dsp:cNvSpPr/>
      </dsp:nvSpPr>
      <dsp:spPr>
        <a:xfrm>
          <a:off x="2787911" y="1049309"/>
          <a:ext cx="2389638" cy="13990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Innovation can make it more sustainable.</a:t>
          </a:r>
        </a:p>
      </dsp:txBody>
      <dsp:txXfrm>
        <a:off x="2856208" y="1117606"/>
        <a:ext cx="2253044" cy="1262485"/>
      </dsp:txXfrm>
    </dsp:sp>
    <dsp:sp modelId="{8C1A51AD-022E-45C7-A086-08C8D32EFCC1}">
      <dsp:nvSpPr>
        <dsp:cNvPr id="0" name=""/>
        <dsp:cNvSpPr/>
      </dsp:nvSpPr>
      <dsp:spPr>
        <a:xfrm>
          <a:off x="5305898" y="1049309"/>
          <a:ext cx="2389638" cy="13990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Key to global clean energy goals.</a:t>
          </a:r>
        </a:p>
      </dsp:txBody>
      <dsp:txXfrm>
        <a:off x="5374195" y="1117606"/>
        <a:ext cx="2253044" cy="12624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048742" name="Date Placeholder 2"/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1048743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048744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1048598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1048595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1048609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1048621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1048631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1048644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1048660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1048672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1048682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1048692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1048709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Image 0"/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1048580" name="Freeform: Shape 19"/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8581" name="Freeform: Shape 17"/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858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5"/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1048584" name="Freeform 7"/>
            <p:cNvSpPr/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048585" name="Freeform 6"/>
            <p:cNvSpPr/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40" name="Group 8"/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48586" name="Freeform 7"/>
            <p:cNvSpPr/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048587" name="Freeform 6"/>
            <p:cNvSpPr/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048588" name="Image 2"/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104858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48590" name="Content Placeholder 2"/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48591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Rectangle 4"/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1048600" name="Rectangle 5"/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48" name="Group 17"/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048601" name="Freeform: Shape 28"/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048602" name="Freeform: Shape 15"/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48603" name="Image 2"/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04860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48605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Rectangle 20"/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1048726" name="Rectangle 21"/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048727" name="Freeform 35"/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8728" name="Freeform 32"/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048729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1048730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48731" name="Picture Placeholder 7"/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Image 1"/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1048611" name="Freeform: Shape 52"/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1048612" name="Freeform 70"/>
          <p:cNvSpPr/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1048613" name="Freeform 70"/>
          <p:cNvSpPr/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1048614" name="Image 4"/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1048615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48616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48617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9"/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48623" name="Image 0"/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2097153" name="Image 1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048624" name="Freeform: Shape 38"/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48625" name="Image 5"/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2097154" name="Image 6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048626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48627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Freeform 26"/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8633" name="Freeform 17"/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8634" name="Freeform 13"/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8635" name="Freeform 15"/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8636" name="Title 19"/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48637" name="Slide Number Placeholder 2"/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48638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48639" name="Content Placeholder 5"/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Rectangle 32"/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1048646" name="Rectangle 33"/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048647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48648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4864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48650" name="Picture Placeholder 30"/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65" name="Group 31"/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1048651" name="Freeform: Shape 28"/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048652" name="Freeform: Shape 25"/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48653" name="Freeform: Shape 15"/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48654" name="Image 2"/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048655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Freeform 4"/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048662" name="Image 4"/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48663" name="Freeform 13"/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097157" name="Image 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048664" name="Freeform 11"/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048665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66" name="Content Placeholder 2"/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48667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68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Freeform 11"/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48719" name="Freeform 9"/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8720" name="Image 2"/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48721" name="Title 1"/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48722" name="Text Placeholder 54"/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4872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48724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Graphic 28"/>
          <p:cNvPicPr>
            <a:picLocks noChangeAspect="1"/>
          </p:cNvPicPr>
          <p:nvPr userDrawn="1"/>
        </p:nvPicPr>
        <p:blipFill>
          <a:blip r:embed="rId2" cstate="screen"/>
          <a:srcRect t="7193"/>
          <a:stretch>
            <a:fillRect/>
          </a:stretch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1048673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48674" name="Freeform 48"/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048675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48676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48677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097160" name="Graphic 42"/>
          <p:cNvPicPr>
            <a:picLocks noChangeAspect="1"/>
          </p:cNvPicPr>
          <p:nvPr userDrawn="1"/>
        </p:nvPicPr>
        <p:blipFill>
          <a:blip r:embed="rId2" cstate="screen"/>
          <a:srcRect t="7193"/>
          <a:stretch>
            <a:fillRect/>
          </a:stretch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2097161" name="Graphic 53"/>
          <p:cNvPicPr>
            <a:picLocks noChangeAspect="1"/>
          </p:cNvPicPr>
          <p:nvPr userDrawn="1"/>
        </p:nvPicPr>
        <p:blipFill>
          <a:blip r:embed="rId3" cstate="screen"/>
          <a:srcRect t="11443" r="10857"/>
          <a:stretch>
            <a:fillRect/>
          </a:stretch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048678" name="Image 2"/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Rectangle 32"/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1048684" name="Rectangle 33"/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048685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48686" name="Content Placeholder 5"/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48687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Freeform: Shape 12"/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8701" name="Freeform: Shape 18"/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097164" name="Image 2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104870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4870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Freeform: Shape 6"/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8733" name="Freeform: Shape 8"/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8734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104873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Freeform: Shape 5"/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8711" name="Freeform: Shape 7"/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87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Freeform: Shape 10"/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8737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4873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48739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48740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Freeform: Shape 10"/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48714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4871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4871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48717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48577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78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reativecommons.org/licenses/by-nc-nd/3.0/" TargetMode="External"/><Relationship Id="rId4" Type="http://schemas.openxmlformats.org/officeDocument/2006/relationships/hyperlink" Target="https://habitatadvocate.com.au/snowy-river-castrated-for-water-greedy-crops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mmquinto.blogspot.com/2020/03/natural-science-lunes-30032020.html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Title 1048582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97165" name="Picture 2097164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530561" y="0"/>
            <a:ext cx="913087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Title 1048744"/>
          <p:cNvSpPr>
            <a:spLocks noGrp="1"/>
          </p:cNvSpPr>
          <p:nvPr>
            <p:ph type="ctrTitle" hasCustomPrompt="1"/>
          </p:nvPr>
        </p:nvSpPr>
        <p:spPr>
          <a:xfrm>
            <a:off x="1502875" y="217904"/>
            <a:ext cx="8871300" cy="5103051"/>
          </a:xfrm>
        </p:spPr>
        <p:txBody>
          <a:bodyPr/>
          <a:lstStyle/>
          <a:p>
            <a:r>
              <a:rPr lang="en-US" sz="2800" dirty="0" err="1"/>
              <a:t>B.venkata</a:t>
            </a:r>
            <a:r>
              <a:rPr lang="en-US" sz="2800" dirty="0"/>
              <a:t> Chaitanya</a:t>
            </a:r>
            <a:br>
              <a:rPr lang="en-US" sz="2800" dirty="0"/>
            </a:br>
            <a:r>
              <a:rPr lang="en-US" sz="2800" b="0" dirty="0" err="1"/>
              <a:t>Branch:MCA</a:t>
            </a:r>
            <a:br>
              <a:rPr lang="en-US" sz="2800" b="0" dirty="0"/>
            </a:br>
            <a:r>
              <a:rPr lang="en-US" sz="2800" b="0" dirty="0"/>
              <a:t>Roll no:25ffmca041</a:t>
            </a:r>
            <a:br>
              <a:rPr lang="en-US" sz="2800" b="0" dirty="0"/>
            </a:br>
            <a:r>
              <a:rPr lang="en-US" sz="2800" b="0" dirty="0"/>
              <a:t>Year: 1st </a:t>
            </a: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Hydro power technology</a:t>
            </a:r>
            <a:br>
              <a:rPr lang="en-US" dirty="0">
                <a:solidFill>
                  <a:srgbClr val="00FFFF"/>
                </a:solidFill>
              </a:rPr>
            </a:b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8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8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9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INTRODUCTION</a:t>
            </a:r>
          </a:p>
        </p:txBody>
      </p:sp>
      <p:sp>
        <p:nvSpPr>
          <p:cNvPr id="1048593" name="Content Placeholder 2"/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0A0A50"/>
                </a:solidFill>
                <a:latin typeface="Calibri"/>
              </a:rPr>
              <a:t>Hydro power generates electricity using flowing or falling water.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0A0A50"/>
                </a:solidFill>
                <a:latin typeface="Calibri"/>
              </a:rPr>
              <a:t> Oldest renewable source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0A0A50"/>
                </a:solidFill>
                <a:latin typeface="Calibri"/>
              </a:rPr>
              <a:t> Converts kinetic → mechanical → electrical energy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The power of HYDROPOWER</a:t>
            </a:r>
          </a:p>
        </p:txBody>
      </p:sp>
      <p:pic>
        <p:nvPicPr>
          <p:cNvPr id="2097152" name="Picture Placeholder 5" descr="A dam in the middle of a river  AI-generated content may be incorrect."/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30792" r="30792"/>
          <a:stretch>
            <a:fillRect/>
          </a:stretch>
        </p:blipFill>
        <p:spPr/>
      </p:pic>
      <p:sp>
        <p:nvSpPr>
          <p:cNvPr id="1048607" name="TextBox 7"/>
          <p:cNvSpPr txBox="1"/>
          <p:nvPr/>
        </p:nvSpPr>
        <p:spPr>
          <a:xfrm>
            <a:off x="443345" y="6359525"/>
            <a:ext cx="43446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habitatadvocate.com.au/snowy-river-castrated-for-water-greedy-crops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nc-nd/3.0/"/>
              </a:rPr>
              <a:t>CC BY-NC-ND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HISTORY </a:t>
            </a:r>
          </a:p>
        </p:txBody>
      </p:sp>
      <p:sp>
        <p:nvSpPr>
          <p:cNvPr id="1048619" name="Content Placeholder 2"/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</a:rPr>
              <a:t> First hydro plant: 1882 (Appleton, USA)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</a:rPr>
              <a:t> Expanded globally in 20th century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</a:rPr>
              <a:t> Major renewable contributor today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Working principle</a:t>
            </a:r>
          </a:p>
        </p:txBody>
      </p:sp>
      <p:sp>
        <p:nvSpPr>
          <p:cNvPr id="1048629" name="Content Placeholder 3"/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A0A50"/>
                </a:solidFill>
                <a:latin typeface="Calibri"/>
              </a:rPr>
              <a:t> Water from reservoir spins turbines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A0A50"/>
                </a:solidFill>
                <a:latin typeface="Calibri"/>
              </a:rPr>
              <a:t>Turbines drive generators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A0A50"/>
                </a:solidFill>
                <a:latin typeface="Calibri"/>
              </a:rPr>
              <a:t> Electricity is produced and transmitted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Components </a:t>
            </a:r>
          </a:p>
        </p:txBody>
      </p:sp>
      <p:pic>
        <p:nvPicPr>
          <p:cNvPr id="2097155" name="Content Placeholder 4" descr="Diagram of a hydro electric power system  AI-generated content may be incorrect.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14400" y="2521744"/>
            <a:ext cx="3282950" cy="3282950"/>
          </a:xfrm>
        </p:spPr>
      </p:pic>
      <p:sp>
        <p:nvSpPr>
          <p:cNvPr id="1048641" name="Content Placeholder 6"/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0A0A50"/>
                </a:solidFill>
                <a:latin typeface="Calibri"/>
              </a:rPr>
              <a:t>• Dam/Reservoir – stores water</a:t>
            </a:r>
          </a:p>
          <a:p>
            <a:r>
              <a:rPr lang="en-US" sz="2400" dirty="0">
                <a:solidFill>
                  <a:srgbClr val="0A0A50"/>
                </a:solidFill>
                <a:latin typeface="Calibri"/>
              </a:rPr>
              <a:t>• Penstock – directs water flow</a:t>
            </a:r>
          </a:p>
          <a:p>
            <a:r>
              <a:rPr lang="en-US" sz="2400" dirty="0">
                <a:solidFill>
                  <a:srgbClr val="0A0A50"/>
                </a:solidFill>
                <a:latin typeface="Calibri"/>
              </a:rPr>
              <a:t>• Turbine – converts water to mechanical energy</a:t>
            </a:r>
          </a:p>
          <a:p>
            <a:r>
              <a:rPr lang="en-US" sz="2400" dirty="0">
                <a:solidFill>
                  <a:srgbClr val="0A0A50"/>
                </a:solidFill>
                <a:latin typeface="Calibri"/>
              </a:rPr>
              <a:t>• Generator – converts mechanical to electrical energy</a:t>
            </a:r>
          </a:p>
          <a:p>
            <a:endParaRPr lang="en-US" sz="2400" dirty="0"/>
          </a:p>
        </p:txBody>
      </p:sp>
      <p:sp>
        <p:nvSpPr>
          <p:cNvPr id="1048642" name="TextBox 5"/>
          <p:cNvSpPr txBox="1"/>
          <p:nvPr/>
        </p:nvSpPr>
        <p:spPr>
          <a:xfrm>
            <a:off x="914400" y="5804694"/>
            <a:ext cx="32829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mmquinto.blogspot.com/2020/03/natural-science-lunes-30032020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sa/3.0/"/>
              </a:rPr>
              <a:t>CC BY-SA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2"/>
          <p:cNvSpPr>
            <a:spLocks noGrp="1"/>
          </p:cNvSpPr>
          <p:nvPr>
            <p:ph type="title"/>
          </p:nvPr>
        </p:nvSpPr>
        <p:spPr>
          <a:xfrm>
            <a:off x="765975" y="554254"/>
            <a:ext cx="7522620" cy="748868"/>
          </a:xfrm>
        </p:spPr>
        <p:txBody>
          <a:bodyPr/>
          <a:lstStyle/>
          <a:p>
            <a:r>
              <a:rPr lang="en-US" dirty="0"/>
              <a:t>Types of hydro plants</a:t>
            </a:r>
          </a:p>
        </p:txBody>
      </p:sp>
      <p:graphicFrame>
        <p:nvGraphicFramePr>
          <p:cNvPr id="4194304" name="Content Placeholder 1"/>
          <p:cNvGraphicFramePr>
            <a:graphicFrameLocks noGrp="1"/>
          </p:cNvGraphicFramePr>
          <p:nvPr>
            <p:ph sz="half" idx="15"/>
          </p:nvPr>
        </p:nvGraphicFramePr>
        <p:xfrm>
          <a:off x="914400" y="1803292"/>
          <a:ext cx="6735097" cy="3733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48657" name="Rectangle 4"/>
          <p:cNvSpPr/>
          <p:nvPr/>
        </p:nvSpPr>
        <p:spPr>
          <a:xfrm>
            <a:off x="1012724" y="6037006"/>
            <a:ext cx="7374193" cy="471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Used depending on terrain and purpose</a:t>
            </a:r>
          </a:p>
          <a:p>
            <a:pPr algn="ctr"/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48658" name="Rectangle 20"/>
          <p:cNvSpPr/>
          <p:nvPr/>
        </p:nvSpPr>
        <p:spPr>
          <a:xfrm>
            <a:off x="8504903" y="0"/>
            <a:ext cx="3687097" cy="36674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97156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4903" y="9326"/>
            <a:ext cx="3549445" cy="36674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2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GLOBAL SCENARIO</a:t>
            </a:r>
          </a:p>
        </p:txBody>
      </p:sp>
      <p:sp>
        <p:nvSpPr>
          <p:cNvPr id="1048670" name="Content Placeholder 3"/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A0A50"/>
                </a:solidFill>
                <a:latin typeface="Calibri"/>
              </a:rPr>
              <a:t>~16% of world electricity from hydro</a:t>
            </a:r>
          </a:p>
          <a:p>
            <a:r>
              <a:rPr lang="en-US" sz="3600" dirty="0">
                <a:solidFill>
                  <a:srgbClr val="0A0A50"/>
                </a:solidFill>
                <a:latin typeface="Calibri"/>
              </a:rPr>
              <a:t>• Top countries: China, Brazil, Canada, USA, India</a:t>
            </a:r>
          </a:p>
          <a:p>
            <a:r>
              <a:rPr lang="en-US" sz="3600" dirty="0">
                <a:solidFill>
                  <a:srgbClr val="0A0A50"/>
                </a:solidFill>
                <a:latin typeface="Calibri"/>
              </a:rPr>
              <a:t>• Expanding in developing nations</a:t>
            </a:r>
          </a:p>
          <a:p>
            <a:endParaRPr lang="en-US" sz="3600" dirty="0"/>
          </a:p>
        </p:txBody>
      </p:sp>
      <p:pic>
        <p:nvPicPr>
          <p:cNvPr id="2097158" name="Picture Placeholder 12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23962" r="23962"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Title 2"/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1048680" name="Content Placeholder 3"/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0A0A50"/>
                </a:solidFill>
                <a:latin typeface="Calibri"/>
              </a:rPr>
              <a:t>• Renewable &amp; clean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0A0A50"/>
                </a:solidFill>
                <a:latin typeface="Calibri"/>
              </a:rPr>
              <a:t>• Low operating costs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0A0A50"/>
                </a:solidFill>
                <a:latin typeface="Calibri"/>
              </a:rPr>
              <a:t>• Flood control &amp; irrigation support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0A0A50"/>
                </a:solidFill>
                <a:latin typeface="Calibri"/>
              </a:rPr>
              <a:t>• Long lifespan</a:t>
            </a:r>
          </a:p>
          <a:p>
            <a:endParaRPr lang="en-US" sz="3600" dirty="0"/>
          </a:p>
        </p:txBody>
      </p:sp>
      <p:pic>
        <p:nvPicPr>
          <p:cNvPr id="2097162" name="Content Placeholder 4" descr="A life preserver with text on it  AI-generated content may be incorrect."/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7940675" y="2703871"/>
            <a:ext cx="4113761" cy="2740793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5525729" cy="1012785"/>
          </a:xfrm>
        </p:spPr>
        <p:txBody>
          <a:bodyPr/>
          <a:lstStyle/>
          <a:p>
            <a:r>
              <a:rPr lang="en-US" dirty="0"/>
              <a:t>Disadvantages</a:t>
            </a:r>
          </a:p>
        </p:txBody>
      </p:sp>
      <p:sp>
        <p:nvSpPr>
          <p:cNvPr id="1048689" name="Content Placeholder 5"/>
          <p:cNvSpPr>
            <a:spLocks noGrp="1"/>
          </p:cNvSpPr>
          <p:nvPr>
            <p:ph sz="quarter" idx="4"/>
          </p:nvPr>
        </p:nvSpPr>
        <p:spPr>
          <a:xfrm>
            <a:off x="914401" y="2198645"/>
            <a:ext cx="5181600" cy="4065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0A0A50"/>
                </a:solidFill>
                <a:latin typeface="Calibri"/>
              </a:rPr>
              <a:t>• High initial cost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0A0A50"/>
                </a:solidFill>
                <a:latin typeface="Calibri"/>
              </a:rPr>
              <a:t>• Displacement of communities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0A0A50"/>
                </a:solidFill>
                <a:latin typeface="Calibri"/>
              </a:rPr>
              <a:t>• Ecological imbalance</a:t>
            </a:r>
          </a:p>
          <a:p>
            <a:pPr marL="0" indent="0">
              <a:buNone/>
            </a:pPr>
            <a:r>
              <a:rPr lang="en-US" sz="3600" dirty="0">
                <a:solidFill>
                  <a:srgbClr val="0A0A50"/>
                </a:solidFill>
                <a:latin typeface="Calibri"/>
              </a:rPr>
              <a:t>• Affected by droughts</a:t>
            </a:r>
          </a:p>
          <a:p>
            <a:endParaRPr lang="en-US" sz="3600" dirty="0"/>
          </a:p>
        </p:txBody>
      </p:sp>
      <p:sp>
        <p:nvSpPr>
          <p:cNvPr id="1048690" name="Rectangle 6"/>
          <p:cNvSpPr/>
          <p:nvPr/>
        </p:nvSpPr>
        <p:spPr>
          <a:xfrm>
            <a:off x="7865806" y="1848465"/>
            <a:ext cx="3746091" cy="32446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97163" name="Picture 8" descr="A hand with a thumb down symbol  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116" y="1848465"/>
            <a:ext cx="3401962" cy="31758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4"/>
          <p:cNvSpPr>
            <a:spLocks noGrp="1"/>
          </p:cNvSpPr>
          <p:nvPr>
            <p:ph type="title"/>
          </p:nvPr>
        </p:nvSpPr>
        <p:spPr>
          <a:xfrm>
            <a:off x="482636" y="1317522"/>
            <a:ext cx="3283119" cy="739497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/>
          <a:p>
            <a:r>
              <a:rPr lang="en-US" sz="2000" dirty="0"/>
              <a:t>Environmental impact</a:t>
            </a:r>
          </a:p>
        </p:txBody>
      </p:sp>
      <p:sp>
        <p:nvSpPr>
          <p:cNvPr id="1048694" name="Content Placeholder 5"/>
          <p:cNvSpPr>
            <a:spLocks noGrp="1"/>
          </p:cNvSpPr>
          <p:nvPr>
            <p:ph sz="half" idx="2"/>
          </p:nvPr>
        </p:nvSpPr>
        <p:spPr>
          <a:xfrm>
            <a:off x="482636" y="2334804"/>
            <a:ext cx="3283119" cy="3720337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A0A50"/>
                </a:solidFill>
                <a:latin typeface="Calibri"/>
              </a:rPr>
              <a:t>Alters river ecosystems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A0A50"/>
                </a:solidFill>
                <a:latin typeface="Calibri"/>
              </a:rPr>
              <a:t> Methane from reservoirs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A0A50"/>
                </a:solidFill>
                <a:latin typeface="Calibri"/>
              </a:rPr>
              <a:t> Sustainable design needed to minimize harm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/>
          </a:p>
        </p:txBody>
      </p:sp>
      <p:sp>
        <p:nvSpPr>
          <p:cNvPr id="1048695" name="Content Placeholder 6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A0A50"/>
                </a:solidFill>
                <a:latin typeface="Calibri"/>
              </a:rPr>
              <a:t> Small &amp; micro-hydro tech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A0A50"/>
                </a:solidFill>
                <a:latin typeface="Calibri"/>
              </a:rPr>
              <a:t> Fish-friendly turbines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A0A50"/>
                </a:solidFill>
                <a:latin typeface="Calibri"/>
              </a:rPr>
              <a:t> Smart grid integration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sz="2800" dirty="0"/>
          </a:p>
        </p:txBody>
      </p:sp>
      <p:sp>
        <p:nvSpPr>
          <p:cNvPr id="1048696" name="Rectangle 7"/>
          <p:cNvSpPr/>
          <p:nvPr/>
        </p:nvSpPr>
        <p:spPr>
          <a:xfrm>
            <a:off x="4768647" y="1317522"/>
            <a:ext cx="3657600" cy="739497"/>
          </a:xfrm>
          <a:prstGeom prst="rect">
            <a:avLst/>
          </a:prstGeom>
          <a:noFill/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1">
                    <a:lumMod val="90000"/>
                  </a:schemeClr>
                </a:solidFill>
                <a:latin typeface="+mj-lt"/>
              </a:rPr>
              <a:t>Technological Developments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Title 4"/>
          <p:cNvSpPr>
            <a:spLocks noGrp="1"/>
          </p:cNvSpPr>
          <p:nvPr>
            <p:ph type="title"/>
          </p:nvPr>
        </p:nvSpPr>
        <p:spPr>
          <a:noFill/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/>
          <a:p>
            <a:r>
              <a:rPr lang="en-US" dirty="0"/>
              <a:t>Future of hydropower</a:t>
            </a:r>
          </a:p>
        </p:txBody>
      </p:sp>
      <p:sp>
        <p:nvSpPr>
          <p:cNvPr id="1048698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97727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0A0A50"/>
                </a:solidFill>
                <a:latin typeface="Calibri"/>
              </a:rPr>
              <a:t>Modernizing old dams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0A0A50"/>
                </a:solidFill>
                <a:latin typeface="Calibri"/>
              </a:rPr>
              <a:t> Hybrid systems (solar + hydro)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400" dirty="0">
                <a:solidFill>
                  <a:srgbClr val="0A0A50"/>
                </a:solidFill>
                <a:latin typeface="Calibri"/>
              </a:rPr>
              <a:t>AI-based efficiency optimization</a:t>
            </a:r>
            <a:endParaRPr 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Title 1"/>
          <p:cNvSpPr>
            <a:spLocks noGrp="1"/>
          </p:cNvSpPr>
          <p:nvPr>
            <p:ph type="title"/>
          </p:nvPr>
        </p:nvSpPr>
        <p:spPr>
          <a:noFill/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/>
          <a:lstStyle/>
          <a:p>
            <a:r>
              <a:rPr lang="en-US" dirty="0"/>
              <a:t>conclusion</a:t>
            </a:r>
          </a:p>
        </p:txBody>
      </p:sp>
      <p:graphicFrame>
        <p:nvGraphicFramePr>
          <p:cNvPr id="4194305" name="Content Placeholder 4"/>
          <p:cNvGraphicFramePr>
            <a:graphicFrameLocks noGrp="1"/>
          </p:cNvGraphicFramePr>
          <p:nvPr>
            <p:ph sz="half" idx="2"/>
          </p:nvPr>
        </p:nvGraphicFramePr>
        <p:xfrm>
          <a:off x="3460565" y="2303029"/>
          <a:ext cx="7965460" cy="3497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Title 1"/>
          <p:cNvSpPr>
            <a:spLocks noGrp="1"/>
          </p:cNvSpPr>
          <p:nvPr>
            <p:ph type="ctrTitle"/>
          </p:nvPr>
        </p:nvSpPr>
        <p:spPr>
          <a:xfrm>
            <a:off x="914401" y="849782"/>
            <a:ext cx="8151144" cy="2727709"/>
          </a:xfrm>
        </p:spPr>
        <p:txBody>
          <a:bodyPr/>
          <a:lstStyle/>
          <a:p>
            <a:r>
              <a:rPr lang="en-US" altLang="en-US" sz="6600"/>
              <a:t>Thanks you </a:t>
            </a:r>
            <a:endParaRPr lang="zh-CN" altLang="en-US"/>
          </a:p>
        </p:txBody>
      </p:sp>
      <p:sp>
        <p:nvSpPr>
          <p:cNvPr id="1048705" name="Subtitle 2"/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endParaRPr/>
          </a:p>
        </p:txBody>
      </p:sp>
      <p:grpSp>
        <p:nvGrpSpPr>
          <p:cNvPr id="86" name="Graphic 7" descr="Angel face with solid fill with solid fill"/>
          <p:cNvGrpSpPr/>
          <p:nvPr/>
        </p:nvGrpSpPr>
        <p:grpSpPr>
          <a:xfrm>
            <a:off x="8506973" y="1729022"/>
            <a:ext cx="2762865" cy="2882307"/>
            <a:chOff x="9181280" y="2315497"/>
            <a:chExt cx="1852559" cy="1858295"/>
          </a:xfrm>
          <a:solidFill>
            <a:schemeClr val="accent5">
              <a:lumMod val="75000"/>
            </a:schemeClr>
          </a:solidFill>
        </p:grpSpPr>
        <p:sp>
          <p:nvSpPr>
            <p:cNvPr id="1048706" name="Freeform: Shape 9"/>
            <p:cNvSpPr/>
            <p:nvPr/>
          </p:nvSpPr>
          <p:spPr>
            <a:xfrm>
              <a:off x="9181280" y="2492477"/>
              <a:ext cx="1852559" cy="1681315"/>
            </a:xfrm>
            <a:custGeom>
              <a:avLst/>
              <a:gdLst>
                <a:gd name="connsiteX0" fmla="*/ 926280 w 1852559"/>
                <a:gd name="connsiteY0" fmla="*/ 0 h 1681315"/>
                <a:gd name="connsiteX1" fmla="*/ 0 w 1852559"/>
                <a:gd name="connsiteY1" fmla="*/ 840658 h 1681315"/>
                <a:gd name="connsiteX2" fmla="*/ 926280 w 1852559"/>
                <a:gd name="connsiteY2" fmla="*/ 1681316 h 1681315"/>
                <a:gd name="connsiteX3" fmla="*/ 1852559 w 1852559"/>
                <a:gd name="connsiteY3" fmla="*/ 840658 h 1681315"/>
                <a:gd name="connsiteX4" fmla="*/ 926280 w 1852559"/>
                <a:gd name="connsiteY4" fmla="*/ 0 h 1681315"/>
                <a:gd name="connsiteX5" fmla="*/ 371974 w 1852559"/>
                <a:gd name="connsiteY5" fmla="*/ 802828 h 1681315"/>
                <a:gd name="connsiteX6" fmla="*/ 334436 w 1852559"/>
                <a:gd name="connsiteY6" fmla="*/ 750398 h 1681315"/>
                <a:gd name="connsiteX7" fmla="*/ 623679 w 1852559"/>
                <a:gd name="connsiteY7" fmla="*/ 580189 h 1681315"/>
                <a:gd name="connsiteX8" fmla="*/ 811226 w 1852559"/>
                <a:gd name="connsiteY8" fmla="*/ 750398 h 1681315"/>
                <a:gd name="connsiteX9" fmla="*/ 771496 w 1852559"/>
                <a:gd name="connsiteY9" fmla="*/ 801536 h 1681315"/>
                <a:gd name="connsiteX10" fmla="*/ 715917 w 1852559"/>
                <a:gd name="connsiteY10" fmla="*/ 768759 h 1681315"/>
                <a:gd name="connsiteX11" fmla="*/ 542551 w 1852559"/>
                <a:gd name="connsiteY11" fmla="*/ 666381 h 1681315"/>
                <a:gd name="connsiteX12" fmla="*/ 429745 w 1852559"/>
                <a:gd name="connsiteY12" fmla="*/ 768759 h 1681315"/>
                <a:gd name="connsiteX13" fmla="*/ 371974 w 1852559"/>
                <a:gd name="connsiteY13" fmla="*/ 802828 h 1681315"/>
                <a:gd name="connsiteX14" fmla="*/ 1409652 w 1852559"/>
                <a:gd name="connsiteY14" fmla="*/ 1199486 h 1681315"/>
                <a:gd name="connsiteX15" fmla="*/ 555183 w 1852559"/>
                <a:gd name="connsiteY15" fmla="*/ 1301382 h 1681315"/>
                <a:gd name="connsiteX16" fmla="*/ 442908 w 1852559"/>
                <a:gd name="connsiteY16" fmla="*/ 1199486 h 1681315"/>
                <a:gd name="connsiteX17" fmla="*/ 451805 w 1852559"/>
                <a:gd name="connsiteY17" fmla="*/ 1137432 h 1681315"/>
                <a:gd name="connsiteX18" fmla="*/ 520179 w 1852559"/>
                <a:gd name="connsiteY18" fmla="*/ 1145507 h 1681315"/>
                <a:gd name="connsiteX19" fmla="*/ 1237912 w 1852559"/>
                <a:gd name="connsiteY19" fmla="*/ 1231243 h 1681315"/>
                <a:gd name="connsiteX20" fmla="*/ 1332380 w 1852559"/>
                <a:gd name="connsiteY20" fmla="*/ 1145507 h 1681315"/>
                <a:gd name="connsiteX21" fmla="*/ 1400754 w 1852559"/>
                <a:gd name="connsiteY21" fmla="*/ 1137432 h 1681315"/>
                <a:gd name="connsiteX22" fmla="*/ 1409652 w 1852559"/>
                <a:gd name="connsiteY22" fmla="*/ 1199486 h 1681315"/>
                <a:gd name="connsiteX23" fmla="*/ 1480585 w 1852559"/>
                <a:gd name="connsiteY23" fmla="*/ 802828 h 1681315"/>
                <a:gd name="connsiteX24" fmla="*/ 1422814 w 1852559"/>
                <a:gd name="connsiteY24" fmla="*/ 768759 h 1681315"/>
                <a:gd name="connsiteX25" fmla="*/ 1249449 w 1852559"/>
                <a:gd name="connsiteY25" fmla="*/ 666381 h 1681315"/>
                <a:gd name="connsiteX26" fmla="*/ 1136643 w 1852559"/>
                <a:gd name="connsiteY26" fmla="*/ 768759 h 1681315"/>
                <a:gd name="connsiteX27" fmla="*/ 1077449 w 1852559"/>
                <a:gd name="connsiteY27" fmla="*/ 800839 h 1681315"/>
                <a:gd name="connsiteX28" fmla="*/ 1041333 w 1852559"/>
                <a:gd name="connsiteY28" fmla="*/ 750398 h 1681315"/>
                <a:gd name="connsiteX29" fmla="*/ 1330576 w 1852559"/>
                <a:gd name="connsiteY29" fmla="*/ 580187 h 1681315"/>
                <a:gd name="connsiteX30" fmla="*/ 1518124 w 1852559"/>
                <a:gd name="connsiteY30" fmla="*/ 750398 h 1681315"/>
                <a:gd name="connsiteX31" fmla="*/ 1480585 w 1852559"/>
                <a:gd name="connsiteY31" fmla="*/ 802828 h 168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852559" h="1681315">
                  <a:moveTo>
                    <a:pt x="926280" y="0"/>
                  </a:moveTo>
                  <a:cubicBezTo>
                    <a:pt x="414710" y="0"/>
                    <a:pt x="0" y="376376"/>
                    <a:pt x="0" y="840658"/>
                  </a:cubicBezTo>
                  <a:cubicBezTo>
                    <a:pt x="0" y="1304940"/>
                    <a:pt x="414710" y="1681316"/>
                    <a:pt x="926280" y="1681316"/>
                  </a:cubicBezTo>
                  <a:cubicBezTo>
                    <a:pt x="1437849" y="1681316"/>
                    <a:pt x="1852559" y="1304940"/>
                    <a:pt x="1852559" y="840658"/>
                  </a:cubicBezTo>
                  <a:cubicBezTo>
                    <a:pt x="1852559" y="376376"/>
                    <a:pt x="1437849" y="0"/>
                    <a:pt x="926280" y="0"/>
                  </a:cubicBezTo>
                  <a:close/>
                  <a:moveTo>
                    <a:pt x="371974" y="802828"/>
                  </a:moveTo>
                  <a:cubicBezTo>
                    <a:pt x="345668" y="797742"/>
                    <a:pt x="328868" y="774281"/>
                    <a:pt x="334436" y="750398"/>
                  </a:cubicBezTo>
                  <a:cubicBezTo>
                    <a:pt x="362519" y="630907"/>
                    <a:pt x="492018" y="554701"/>
                    <a:pt x="623679" y="580189"/>
                  </a:cubicBezTo>
                  <a:cubicBezTo>
                    <a:pt x="717711" y="598391"/>
                    <a:pt x="791170" y="665058"/>
                    <a:pt x="811226" y="750398"/>
                  </a:cubicBezTo>
                  <a:cubicBezTo>
                    <a:pt x="815814" y="774476"/>
                    <a:pt x="798027" y="797371"/>
                    <a:pt x="771496" y="801536"/>
                  </a:cubicBezTo>
                  <a:cubicBezTo>
                    <a:pt x="746377" y="805479"/>
                    <a:pt x="722152" y="791192"/>
                    <a:pt x="715917" y="768759"/>
                  </a:cubicBezTo>
                  <a:cubicBezTo>
                    <a:pt x="699192" y="697040"/>
                    <a:pt x="621575" y="651204"/>
                    <a:pt x="542551" y="666381"/>
                  </a:cubicBezTo>
                  <a:cubicBezTo>
                    <a:pt x="485946" y="677252"/>
                    <a:pt x="441723" y="717386"/>
                    <a:pt x="429745" y="768759"/>
                  </a:cubicBezTo>
                  <a:cubicBezTo>
                    <a:pt x="424141" y="792634"/>
                    <a:pt x="398291" y="807881"/>
                    <a:pt x="371974" y="802828"/>
                  </a:cubicBezTo>
                  <a:close/>
                  <a:moveTo>
                    <a:pt x="1409652" y="1199486"/>
                  </a:moveTo>
                  <a:cubicBezTo>
                    <a:pt x="1204700" y="1441768"/>
                    <a:pt x="822141" y="1487389"/>
                    <a:pt x="555183" y="1301382"/>
                  </a:cubicBezTo>
                  <a:cubicBezTo>
                    <a:pt x="513020" y="1272006"/>
                    <a:pt x="475277" y="1237749"/>
                    <a:pt x="442908" y="1199486"/>
                  </a:cubicBezTo>
                  <a:cubicBezTo>
                    <a:pt x="426484" y="1180120"/>
                    <a:pt x="430467" y="1152338"/>
                    <a:pt x="451805" y="1137432"/>
                  </a:cubicBezTo>
                  <a:cubicBezTo>
                    <a:pt x="473144" y="1122526"/>
                    <a:pt x="503755" y="1126141"/>
                    <a:pt x="520179" y="1145507"/>
                  </a:cubicBezTo>
                  <a:cubicBezTo>
                    <a:pt x="692289" y="1349059"/>
                    <a:pt x="1013630" y="1387444"/>
                    <a:pt x="1237912" y="1231243"/>
                  </a:cubicBezTo>
                  <a:cubicBezTo>
                    <a:pt x="1273393" y="1206532"/>
                    <a:pt x="1305153" y="1177708"/>
                    <a:pt x="1332380" y="1145507"/>
                  </a:cubicBezTo>
                  <a:cubicBezTo>
                    <a:pt x="1348805" y="1126141"/>
                    <a:pt x="1379416" y="1122526"/>
                    <a:pt x="1400754" y="1137432"/>
                  </a:cubicBezTo>
                  <a:cubicBezTo>
                    <a:pt x="1422093" y="1152338"/>
                    <a:pt x="1426076" y="1180120"/>
                    <a:pt x="1409652" y="1199486"/>
                  </a:cubicBezTo>
                  <a:close/>
                  <a:moveTo>
                    <a:pt x="1480585" y="802828"/>
                  </a:moveTo>
                  <a:cubicBezTo>
                    <a:pt x="1454269" y="807881"/>
                    <a:pt x="1428418" y="792634"/>
                    <a:pt x="1422814" y="768759"/>
                  </a:cubicBezTo>
                  <a:cubicBezTo>
                    <a:pt x="1406090" y="697040"/>
                    <a:pt x="1328473" y="651204"/>
                    <a:pt x="1249449" y="666381"/>
                  </a:cubicBezTo>
                  <a:cubicBezTo>
                    <a:pt x="1192844" y="677252"/>
                    <a:pt x="1148621" y="717386"/>
                    <a:pt x="1136643" y="768759"/>
                  </a:cubicBezTo>
                  <a:cubicBezTo>
                    <a:pt x="1130056" y="792453"/>
                    <a:pt x="1103555" y="806815"/>
                    <a:pt x="1077449" y="800839"/>
                  </a:cubicBezTo>
                  <a:cubicBezTo>
                    <a:pt x="1052729" y="795180"/>
                    <a:pt x="1036990" y="773195"/>
                    <a:pt x="1041333" y="750398"/>
                  </a:cubicBezTo>
                  <a:cubicBezTo>
                    <a:pt x="1069417" y="630907"/>
                    <a:pt x="1198916" y="554701"/>
                    <a:pt x="1330576" y="580187"/>
                  </a:cubicBezTo>
                  <a:cubicBezTo>
                    <a:pt x="1424609" y="598391"/>
                    <a:pt x="1498067" y="665058"/>
                    <a:pt x="1518124" y="750398"/>
                  </a:cubicBezTo>
                  <a:cubicBezTo>
                    <a:pt x="1523691" y="774281"/>
                    <a:pt x="1506891" y="797742"/>
                    <a:pt x="1480585" y="802828"/>
                  </a:cubicBezTo>
                  <a:close/>
                </a:path>
              </a:pathLst>
            </a:custGeom>
            <a:grpFill/>
            <a:ln w="24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6"/>
                </a:solidFill>
              </a:endParaRPr>
            </a:p>
          </p:txBody>
        </p:sp>
        <p:sp>
          <p:nvSpPr>
            <p:cNvPr id="1048707" name="Freeform: Shape 10"/>
            <p:cNvSpPr/>
            <p:nvPr/>
          </p:nvSpPr>
          <p:spPr>
            <a:xfrm>
              <a:off x="9278783" y="2315497"/>
              <a:ext cx="1657553" cy="340023"/>
            </a:xfrm>
            <a:custGeom>
              <a:avLst/>
              <a:gdLst>
                <a:gd name="connsiteX0" fmla="*/ 129679 w 1657553"/>
                <a:gd name="connsiteY0" fmla="*/ 340024 h 340023"/>
                <a:gd name="connsiteX1" fmla="*/ 213532 w 1657553"/>
                <a:gd name="connsiteY1" fmla="*/ 275647 h 340023"/>
                <a:gd name="connsiteX2" fmla="*/ 101647 w 1657553"/>
                <a:gd name="connsiteY2" fmla="*/ 221226 h 340023"/>
                <a:gd name="connsiteX3" fmla="*/ 828777 w 1657553"/>
                <a:gd name="connsiteY3" fmla="*/ 88490 h 340023"/>
                <a:gd name="connsiteX4" fmla="*/ 1555906 w 1657553"/>
                <a:gd name="connsiteY4" fmla="*/ 221226 h 340023"/>
                <a:gd name="connsiteX5" fmla="*/ 1444021 w 1657553"/>
                <a:gd name="connsiteY5" fmla="*/ 275647 h 340023"/>
                <a:gd name="connsiteX6" fmla="*/ 1527874 w 1657553"/>
                <a:gd name="connsiteY6" fmla="*/ 340024 h 340023"/>
                <a:gd name="connsiteX7" fmla="*/ 1657553 w 1657553"/>
                <a:gd name="connsiteY7" fmla="*/ 221226 h 340023"/>
                <a:gd name="connsiteX8" fmla="*/ 828777 w 1657553"/>
                <a:gd name="connsiteY8" fmla="*/ 0 h 340023"/>
                <a:gd name="connsiteX9" fmla="*/ 0 w 1657553"/>
                <a:gd name="connsiteY9" fmla="*/ 221226 h 340023"/>
                <a:gd name="connsiteX10" fmla="*/ 129679 w 1657553"/>
                <a:gd name="connsiteY10" fmla="*/ 340024 h 340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57553" h="340023">
                  <a:moveTo>
                    <a:pt x="129679" y="340024"/>
                  </a:moveTo>
                  <a:cubicBezTo>
                    <a:pt x="156329" y="317207"/>
                    <a:pt x="184320" y="295717"/>
                    <a:pt x="213532" y="275647"/>
                  </a:cubicBezTo>
                  <a:cubicBezTo>
                    <a:pt x="172522" y="264657"/>
                    <a:pt x="134440" y="246134"/>
                    <a:pt x="101647" y="221226"/>
                  </a:cubicBezTo>
                  <a:cubicBezTo>
                    <a:pt x="146255" y="176981"/>
                    <a:pt x="387575" y="88490"/>
                    <a:pt x="828777" y="88490"/>
                  </a:cubicBezTo>
                  <a:cubicBezTo>
                    <a:pt x="1269978" y="88490"/>
                    <a:pt x="1511299" y="176981"/>
                    <a:pt x="1555906" y="221226"/>
                  </a:cubicBezTo>
                  <a:cubicBezTo>
                    <a:pt x="1523114" y="246134"/>
                    <a:pt x="1485031" y="264657"/>
                    <a:pt x="1444021" y="275647"/>
                  </a:cubicBezTo>
                  <a:cubicBezTo>
                    <a:pt x="1473233" y="295717"/>
                    <a:pt x="1501224" y="317207"/>
                    <a:pt x="1527874" y="340024"/>
                  </a:cubicBezTo>
                  <a:cubicBezTo>
                    <a:pt x="1608802" y="305734"/>
                    <a:pt x="1657553" y="265471"/>
                    <a:pt x="1657553" y="221226"/>
                  </a:cubicBezTo>
                  <a:cubicBezTo>
                    <a:pt x="1657553" y="99109"/>
                    <a:pt x="1286554" y="0"/>
                    <a:pt x="828777" y="0"/>
                  </a:cubicBezTo>
                  <a:cubicBezTo>
                    <a:pt x="370999" y="0"/>
                    <a:pt x="0" y="99109"/>
                    <a:pt x="0" y="221226"/>
                  </a:cubicBezTo>
                  <a:cubicBezTo>
                    <a:pt x="0" y="265471"/>
                    <a:pt x="48752" y="305734"/>
                    <a:pt x="129679" y="340024"/>
                  </a:cubicBezTo>
                  <a:close/>
                </a:path>
              </a:pathLst>
            </a:custGeom>
            <a:grpFill/>
            <a:ln w="243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6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8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8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8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87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487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487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05" grpId="0" build="p"/>
    </p:bldLst>
  </p:timing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2AF28F-FD79-40B2-8FD4-EAE8DFCE1D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</Words>
  <Application>Microsoft Office PowerPoint</Application>
  <PresentationFormat>Widescreen</PresentationFormat>
  <Paragraphs>58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Black</vt:lpstr>
      <vt:lpstr>Calibri</vt:lpstr>
      <vt:lpstr>Sabon Next LT</vt:lpstr>
      <vt:lpstr>Wingdings</vt:lpstr>
      <vt:lpstr>Custom</vt:lpstr>
      <vt:lpstr>PowerPoint Presentation</vt:lpstr>
      <vt:lpstr>B.venkata Chaitanya Branch:MCA Roll no:25ffmca041 Year: 1st </vt:lpstr>
      <vt:lpstr>Hydro power technology </vt:lpstr>
      <vt:lpstr>INTRODUCTION</vt:lpstr>
      <vt:lpstr>The power of HYDROPOWER</vt:lpstr>
      <vt:lpstr>HISTORY </vt:lpstr>
      <vt:lpstr>Working principle</vt:lpstr>
      <vt:lpstr>Components </vt:lpstr>
      <vt:lpstr>Types of hydro plants</vt:lpstr>
      <vt:lpstr>GLOBAL SCENARIO</vt:lpstr>
      <vt:lpstr>advantages</vt:lpstr>
      <vt:lpstr>Disadvantages</vt:lpstr>
      <vt:lpstr>Environmental impact</vt:lpstr>
      <vt:lpstr>Future of hydropower</vt:lpstr>
      <vt:lpstr>conclusion</vt:lpstr>
      <vt:lpstr>Thanks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CHARAN KUMAR YENUGULA</dc:creator>
  <cp:lastModifiedBy>bayannagari venkata chaitanya</cp:lastModifiedBy>
  <cp:revision>1</cp:revision>
  <dcterms:created xsi:type="dcterms:W3CDTF">2025-10-08T02:43:49Z</dcterms:created>
  <dcterms:modified xsi:type="dcterms:W3CDTF">2025-12-17T16:45:00Z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3e5ca6da5c584b03be1abf413b4acbdc</vt:lpwstr>
  </property>
</Properties>
</file>